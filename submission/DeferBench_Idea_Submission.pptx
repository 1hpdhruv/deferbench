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DeferBench: Benchmarking Delayed-Execution Risks in AI-Assisted Development. Hackathon theme: AI &amp; Cybersecurity.</a:t>
            </a:r>
          </a:p>
          <a:p>
            <a:r>
              <a:t>One-line message: we test whether security controls stop AI-authored changes from causing unintended execution through trusted developer tools.</a:t>
            </a:r>
          </a:p>
          <a:p>
            <a:r>
              <a:t>Status to state out loud: development results come from scenarios written by the defence author; human-independent evaluation is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steps left to right. The example: `npm test` is a normal command, but an earlier agent edit added a `pretest` script to package.json, so the tool runs content the developer never reviewed.</a:t>
            </a:r>
          </a:p>
          <a:p>
            <a:r>
              <a:t>Caveat to say: this is a scenario class we study; it is not a claim that every coding agent or every approval system is vulnerable.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question: do controls actually stop the effect, and what does that cost legitimate work?</a:t>
            </a:r>
          </a:p>
          <a:p>
            <a:r>
              <a:t>Related work exists and we cite it: AgentCanary (arXiv:2606.10484) evaluates agents in real executable environments and compares three runtime defences; IssueTrojanBench (arXiv:2607.20759) measures coding agents following malicious issues; SandboxEscapeBench (ICML 2026, PMLR v306) measures container escape. Controls: Gensee Crate, Gryph, Runmark.</a:t>
            </a:r>
          </a:p>
          <a:p>
            <a:r>
              <a:t>Our proposed distinction is narrow: delayed execution through trusted developer tools, observed prevention, benign-workflow disruption. Novelty of that combination is not independently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scenario is a fixed, replayable JSON file. The harness builds a fresh git workspace with a synthetic canary secret, plays the agent's steps into the control, then really runs the trusted command.</a:t>
            </a:r>
          </a:p>
          <a:p>
            <a:r>
              <a:t>A loopback-only sink (127.0.0.1) reports whether the canary left. Before any control is scored, the scenario is run undefended; if the expected effect does not reproduce it is INVALID and excluded.</a:t>
            </a:r>
          </a:p>
          <a:p>
            <a:r>
              <a:t>Handoff is one control under evaluation (execution-path resolver + provenance ledger), not the whole product. Current run: 40 scenarios (16 attack, 14 benign, 10 edge) x 2 payload styles, 0 invalid.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Components: scenario runner (JSON scenarios, scripted agent actions), security-control baselines (path denylist; stateless execution-path resolver; Handoff = same resolver + provenance ledger; third-party tools run through their hook entry points), a synthetic canary and a loopback-only sink, and a results engine that writes JSON and CSV and feeds an HTML dashboard.</a:t>
            </a:r>
          </a:p>
          <a:p>
            <a:r>
              <a:t>Implementation facts: Python package and CLI, no runtime dependencies beyond the standard library; automated tests; documented reproduction commands (README.md).</a:t>
            </a:r>
          </a:p>
          <a:p>
            <a:r>
              <a:t>AI honesty: the benchmark evaluates risks created by AI-assisted coding. The evaluation replays scripted agent actions for reproducibility; no live model is in the loop. Handoff is rules-based. An optional LLM classifier was proposed but is not implemented.</a:t>
            </a:r>
          </a:p>
          <a:p>
            <a:r>
              <a:t>Third-party tools (Gensee Crate CLI, Gryph, Runmark) are separate projects run unmodified through adapters we wrote; they are not our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results/final/development_release_rerun/results.json, run 20261013T115905Z-bde81a; 40 scenarios (16 attack, 14 benign, 10 edge) x 2 payload styles; 0 invalid runs. Rates pool the two payload styles, so n counts scenario x style, not independent attacks.</a:t>
            </a:r>
          </a:p>
          <a:p>
            <a:r>
              <a:t>Stateless resolver: prevented 44/44 attack runs, interrupted 2/26 benign runs. Handoff: prevented 44/44, interrupted 2/26; provenance attribution 37/44.</a:t>
            </a:r>
          </a:p>
          <a:p>
            <a:r>
              <a:t>If every ask is approved by a reviewer: Handoff 38/44, stateless resolver 40/44.</a:t>
            </a:r>
          </a:p>
          <a:p>
            <a:r>
              <a:t>Other controls (default policies, hook-only, not product comparisons): path denylist 4/44; Gensee Crate v0.3.3 7/44; Gryph v0.9.0 0/44; Runmark v0.1.0-spike.2 0/44; blanket 'block after any write' rule 40/44 attacks prevented but 26/26 benign interrupted.</a:t>
            </a:r>
          </a:p>
          <a:p>
            <a:r>
              <a:t>Independence: development-authored scenarios; neither this set nor the confirmatory set is human-independent. Human-independent evaluation is pending.</a:t>
            </a:r>
          </a:p>
          <a:p>
            <a:r>
              <a:t>Model-authored confirmatory run 20261013T112557Z-42397e (isolated model instance wrote the scenarios; 12 attack scenarios and 6 benign scenarios, 2 repeats each): attack trials prevented: stateless resolver 24/24, Handoff 24/24; benign trials interrupted: stateless resolver 0/12, Handoff 4/12.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Related benchmarks (read for this submission): AgentCanary arXiv:2606.10484 (full paper read: agents in real executable environments; compares three runtime defences; LLM-judge scoring); IssueTrojanBench arXiv:2607.20759 (abstract read: coding agents following malicious issue requests); SandboxEscapeBench, ICML 2026, PMLR v306 (abstract and repository README read: container sandbox escape).</a:t>
            </a:r>
          </a:p>
          <a:p>
            <a:r>
              <a:t>Related controls: Gensee Crate (documents artifact provenance), Gryph (policy rules over session counters), Runmark (pre-execution command facts). We ran released command-line tools through their hook entry points with default policies; no endorsement or partnership is implied.</a:t>
            </a:r>
          </a:p>
          <a:p>
            <a:r>
              <a:t>Full list of third-party tools, fonts, dependencies and AI tools: submission/SOURCES_AND_DISCLOSURES.md.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Exactly two team members. Names and photos are editable placeholders because no names are recorded in the project documentation; replace them before submitting.</a:t>
            </a:r>
          </a:p>
          <a:p>
            <a:r>
              <a:t>Roles shown are suggested from docs/TEAM_PLAN.md (defence/resolver work vs benchmark/scenarios/reporting), not recorded assignments.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Repository link intentionally omitted: no public repository URL is recorded in the project files. Add one here if the team publishes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heme pill"/>
          <p:cNvSpPr/>
          <p:nvPr/>
        </p:nvSpPr>
        <p:spPr>
          <a:xfrm>
            <a:off x="1397000" y="1854200"/>
            <a:ext cx="2540000" cy="368300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6350">
            <a:solidFill>
              <a:srgbClr val="D9C7F7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97000" y="1854200"/>
            <a:ext cx="2540000" cy="36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 spc="150">
                <a:solidFill>
                  <a:srgbClr val="E6DAFA"/>
                </a:solidFill>
                <a:latin typeface="DM Sans"/>
              </a:rPr>
              <a:t>AI &amp; CYBERSECURITY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1397000" y="2413000"/>
            <a:ext cx="9525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6850" b="1" i="0" spc="-300">
                <a:solidFill>
                  <a:srgbClr val="F4F0FC"/>
                </a:solidFill>
                <a:latin typeface="DM Sans"/>
              </a:rPr>
              <a:t>DeferBench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1409700" y="3644900"/>
            <a:ext cx="9906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D9CEF2"/>
                </a:solidFill>
                <a:latin typeface="DM Sans"/>
              </a:rPr>
              <a:t>Benchmarking Delayed-Execution Risks in AI-Assisted Development</a:t>
            </a:r>
          </a:p>
        </p:txBody>
      </p:sp>
      <p:sp>
        <p:nvSpPr>
          <p:cNvPr id="6" name="Supporting line"/>
          <p:cNvSpPr txBox="1"/>
          <p:nvPr/>
        </p:nvSpPr>
        <p:spPr>
          <a:xfrm>
            <a:off x="1409700" y="4241800"/>
            <a:ext cx="8001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E6DDF7"/>
                </a:solidFill>
                <a:latin typeface="DM Sans"/>
              </a:rPr>
              <a:t>Testing whether security controls stop AI-authored code from causing unintended execution through trusted developer tools.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97000" y="558800"/>
            <a:ext cx="9906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i="0" spc="-60">
                <a:solidFill>
                  <a:srgbClr val="F4F0FC"/>
                </a:solidFill>
                <a:latin typeface="DM Sans"/>
              </a:rPr>
              <a:t>The command looks safe.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300" b="1" i="0" spc="-60">
                <a:solidFill>
                  <a:srgbClr val="F4F0FC"/>
                </a:solidFill>
                <a:latin typeface="DM Sans"/>
              </a:rPr>
              <a:t>What it executes may not be.</a:t>
            </a:r>
          </a:p>
        </p:txBody>
      </p:sp>
      <p:sp>
        <p:nvSpPr>
          <p:cNvPr id="3" name="Step 1 card"/>
          <p:cNvSpPr/>
          <p:nvPr/>
        </p:nvSpPr>
        <p:spPr>
          <a:xfrm>
            <a:off x="1397000" y="1905000"/>
            <a:ext cx="2159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587500" y="2095500"/>
            <a:ext cx="279400" cy="279400"/>
          </a:xfrm>
          <a:prstGeom prst="roundRect">
            <a:avLst>
              <a:gd name="adj" fmla="val 20454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87500" y="20955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1</a:t>
            </a:r>
          </a:p>
        </p:txBody>
      </p:sp>
      <p:sp>
        <p:nvSpPr>
          <p:cNvPr id="6" name="Step 1 heading"/>
          <p:cNvSpPr txBox="1"/>
          <p:nvPr/>
        </p:nvSpPr>
        <p:spPr>
          <a:xfrm>
            <a:off x="1587500" y="2527300"/>
            <a:ext cx="177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Untrusted input</a:t>
            </a:r>
          </a:p>
        </p:txBody>
      </p:sp>
      <p:sp>
        <p:nvSpPr>
          <p:cNvPr id="7" name="Step 1 text"/>
          <p:cNvSpPr txBox="1"/>
          <p:nvPr/>
        </p:nvSpPr>
        <p:spPr>
          <a:xfrm>
            <a:off x="1587500" y="3149600"/>
            <a:ext cx="177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9CEF2"/>
                </a:solidFill>
                <a:latin typeface="DM Sans"/>
              </a:rPr>
              <a:t>An AI coding agent reads an untrusted issue or document.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94100" y="2952750"/>
            <a:ext cx="177800" cy="0"/>
          </a:xfrm>
          <a:prstGeom prst="line">
            <a:avLst/>
          </a:prstGeom>
          <a:ln w="22225">
            <a:solidFill>
              <a:srgbClr val="D9CE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ep 2 card"/>
          <p:cNvSpPr/>
          <p:nvPr/>
        </p:nvSpPr>
        <p:spPr>
          <a:xfrm>
            <a:off x="3810000" y="1905000"/>
            <a:ext cx="2159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00500" y="2095500"/>
            <a:ext cx="279400" cy="279400"/>
          </a:xfrm>
          <a:prstGeom prst="roundRect">
            <a:avLst>
              <a:gd name="adj" fmla="val 20454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500" y="20955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2</a:t>
            </a:r>
          </a:p>
        </p:txBody>
      </p:sp>
      <p:sp>
        <p:nvSpPr>
          <p:cNvPr id="12" name="Step 2 heading"/>
          <p:cNvSpPr txBox="1"/>
          <p:nvPr/>
        </p:nvSpPr>
        <p:spPr>
          <a:xfrm>
            <a:off x="4000500" y="2527300"/>
            <a:ext cx="177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Agent-authored change</a:t>
            </a:r>
          </a:p>
        </p:txBody>
      </p:sp>
      <p:sp>
        <p:nvSpPr>
          <p:cNvPr id="13" name="Step 2 text"/>
          <p:cNvSpPr txBox="1"/>
          <p:nvPr/>
        </p:nvSpPr>
        <p:spPr>
          <a:xfrm>
            <a:off x="4000500" y="3149600"/>
            <a:ext cx="177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9CEF2"/>
                </a:solidFill>
                <a:latin typeface="DM Sans"/>
              </a:rPr>
              <a:t>It modifies a project script or configuration file.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07100" y="2952750"/>
            <a:ext cx="177800" cy="0"/>
          </a:xfrm>
          <a:prstGeom prst="line">
            <a:avLst/>
          </a:prstGeom>
          <a:ln w="22225">
            <a:solidFill>
              <a:srgbClr val="D9CE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ep 3 card"/>
          <p:cNvSpPr/>
          <p:nvPr/>
        </p:nvSpPr>
        <p:spPr>
          <a:xfrm>
            <a:off x="6223000" y="1905000"/>
            <a:ext cx="2159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3500" y="2095500"/>
            <a:ext cx="279400" cy="279400"/>
          </a:xfrm>
          <a:prstGeom prst="roundRect">
            <a:avLst>
              <a:gd name="adj" fmla="val 20454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3500" y="20955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3</a:t>
            </a:r>
          </a:p>
        </p:txBody>
      </p:sp>
      <p:sp>
        <p:nvSpPr>
          <p:cNvPr id="18" name="Step 3 heading"/>
          <p:cNvSpPr txBox="1"/>
          <p:nvPr/>
        </p:nvSpPr>
        <p:spPr>
          <a:xfrm>
            <a:off x="6413500" y="2527300"/>
            <a:ext cx="177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Trusted tool executes it</a:t>
            </a:r>
          </a:p>
        </p:txBody>
      </p:sp>
      <p:sp>
        <p:nvSpPr>
          <p:cNvPr id="19" name="Step 3 text"/>
          <p:cNvSpPr txBox="1"/>
          <p:nvPr/>
        </p:nvSpPr>
        <p:spPr>
          <a:xfrm>
            <a:off x="6413500" y="3149600"/>
            <a:ext cx="177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9CEF2"/>
                </a:solidFill>
                <a:latin typeface="DM Sans"/>
              </a:rPr>
              <a:t>Later, npm test, make build or pytest runs that content.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20100" y="2952750"/>
            <a:ext cx="177800" cy="0"/>
          </a:xfrm>
          <a:prstGeom prst="line">
            <a:avLst/>
          </a:prstGeom>
          <a:ln w="22225">
            <a:solidFill>
              <a:srgbClr val="D9CEF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tep 4 card"/>
          <p:cNvSpPr/>
          <p:nvPr/>
        </p:nvSpPr>
        <p:spPr>
          <a:xfrm>
            <a:off x="8636000" y="1905000"/>
            <a:ext cx="2159000" cy="2095500"/>
          </a:xfrm>
          <a:prstGeom prst="roundRect">
            <a:avLst>
              <a:gd name="adj" fmla="val 4848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826500" y="2095500"/>
            <a:ext cx="279400" cy="279400"/>
          </a:xfrm>
          <a:prstGeom prst="roundRect">
            <a:avLst>
              <a:gd name="adj" fmla="val 20454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6500" y="20955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4</a:t>
            </a:r>
          </a:p>
        </p:txBody>
      </p:sp>
      <p:sp>
        <p:nvSpPr>
          <p:cNvPr id="24" name="Step 4 heading"/>
          <p:cNvSpPr txBox="1"/>
          <p:nvPr/>
        </p:nvSpPr>
        <p:spPr>
          <a:xfrm>
            <a:off x="8826500" y="2527300"/>
            <a:ext cx="1778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Unintended execution</a:t>
            </a:r>
          </a:p>
        </p:txBody>
      </p:sp>
      <p:sp>
        <p:nvSpPr>
          <p:cNvPr id="25" name="Step 4 text"/>
          <p:cNvSpPr txBox="1"/>
          <p:nvPr/>
        </p:nvSpPr>
        <p:spPr>
          <a:xfrm>
            <a:off x="8826500" y="3149600"/>
            <a:ext cx="1778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D9CEF2"/>
                </a:solidFill>
                <a:latin typeface="DM Sans"/>
              </a:rPr>
              <a:t>The effect goes beyond what the command line reveals.</a:t>
            </a:r>
          </a:p>
        </p:txBody>
      </p:sp>
      <p:sp>
        <p:nvSpPr>
          <p:cNvPr id="26" name="Example strip"/>
          <p:cNvSpPr/>
          <p:nvPr/>
        </p:nvSpPr>
        <p:spPr>
          <a:xfrm>
            <a:off x="1397000" y="4241800"/>
            <a:ext cx="9398000" cy="749300"/>
          </a:xfrm>
          <a:prstGeom prst="roundRect">
            <a:avLst>
              <a:gd name="adj" fmla="val 15254"/>
            </a:avLst>
          </a:prstGeom>
          <a:solidFill>
            <a:srgbClr val="12072F">
              <a:alpha val="62000"/>
            </a:srgbClr>
          </a:solidFill>
          <a:ln w="6350">
            <a:solidFill>
              <a:srgbClr val="FFFFFF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200" y="4381500"/>
            <a:ext cx="101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50">
                <a:solidFill>
                  <a:srgbClr val="A46EDB"/>
                </a:solidFill>
                <a:latin typeface="DM Sans"/>
              </a:rPr>
              <a:t>EXAMPLE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584700"/>
            <a:ext cx="1270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4F0FC"/>
                </a:solidFill>
                <a:latin typeface="Courier New"/>
              </a:rPr>
              <a:t>npm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84500" y="4762500"/>
            <a:ext cx="444500" cy="0"/>
          </a:xfrm>
          <a:prstGeom prst="line">
            <a:avLst/>
          </a:prstGeom>
          <a:ln w="22225">
            <a:solidFill>
              <a:srgbClr val="A46E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556000" y="4584700"/>
            <a:ext cx="3556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D9CEF2"/>
                </a:solidFill>
                <a:latin typeface="DM Sans"/>
              </a:rPr>
              <a:t>package.json gained a </a:t>
            </a:r>
            <a:r>
              <a:rPr sz="1300" b="1" i="0">
                <a:solidFill>
                  <a:srgbClr val="F4F0FC"/>
                </a:solidFill>
                <a:latin typeface="Courier New"/>
              </a:rPr>
              <a:t>pretest</a:t>
            </a:r>
            <a:r>
              <a:rPr sz="1300" b="0" i="0">
                <a:solidFill>
                  <a:srgbClr val="D9CEF2"/>
                </a:solidFill>
                <a:latin typeface="DM Sans"/>
              </a:rPr>
              <a:t> script, edited by the agent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39000" y="4762500"/>
            <a:ext cx="444500" cy="0"/>
          </a:xfrm>
          <a:prstGeom prst="line">
            <a:avLst/>
          </a:prstGeom>
          <a:ln w="22225">
            <a:solidFill>
              <a:srgbClr val="A46ED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0500" y="4584700"/>
            <a:ext cx="279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F4F0FC"/>
                </a:solidFill>
                <a:latin typeface="DM Sans"/>
              </a:rPr>
              <a:t>It runs a command the developer never reviewed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7000" y="6254750"/>
            <a:ext cx="939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9A8E3"/>
                </a:solidFill>
                <a:latin typeface="DM Sans"/>
              </a:rPr>
              <a:t>Illustrative scenario class, not a claim that every coding agent or approval system is vulnerable.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97000" y="635000"/>
            <a:ext cx="10668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100" b="1" i="0" spc="-60">
                <a:solidFill>
                  <a:srgbClr val="F4F0FC"/>
                </a:solidFill>
                <a:latin typeface="DM Sans"/>
              </a:rPr>
              <a:t>Can security controls stop delayed execution?</a:t>
            </a:r>
          </a:p>
        </p:txBody>
      </p:sp>
      <p:sp>
        <p:nvSpPr>
          <p:cNvPr id="3" name="Gap card"/>
          <p:cNvSpPr/>
          <p:nvPr/>
        </p:nvSpPr>
        <p:spPr>
          <a:xfrm>
            <a:off x="1397000" y="1587500"/>
            <a:ext cx="4953000" cy="2222500"/>
          </a:xfrm>
          <a:prstGeom prst="roundRect">
            <a:avLst>
              <a:gd name="adj" fmla="val 4571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38300" y="17780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A46EDB"/>
                </a:solidFill>
                <a:latin typeface="DM Sans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8300" y="2095500"/>
            <a:ext cx="4483100" cy="158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1100"/>
              </a:spcAft>
            </a:pPr>
            <a:r>
              <a:rPr sz="1450" b="0" i="0">
                <a:solidFill>
                  <a:srgbClr val="F4F0FC"/>
                </a:solidFill>
                <a:latin typeface="DM Sans"/>
              </a:rPr>
              <a:t>Controls look at different things: commands, policies, artifact provenance.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50" b="0" i="0">
                <a:solidFill>
                  <a:srgbClr val="F4F0FC"/>
                </a:solidFill>
                <a:latin typeface="DM Sans"/>
              </a:rPr>
              <a:t>We need one reproducible way to compare what each one actually does on the same scenarios.</a:t>
            </a:r>
          </a:p>
        </p:txBody>
      </p:sp>
      <p:sp>
        <p:nvSpPr>
          <p:cNvPr id="6" name="Research question card"/>
          <p:cNvSpPr/>
          <p:nvPr/>
        </p:nvSpPr>
        <p:spPr>
          <a:xfrm>
            <a:off x="6604000" y="1587500"/>
            <a:ext cx="4191000" cy="2222500"/>
          </a:xfrm>
          <a:prstGeom prst="roundRect">
            <a:avLst>
              <a:gd name="adj" fmla="val 4571"/>
            </a:avLst>
          </a:prstGeom>
          <a:solidFill>
            <a:srgbClr val="4F21A1">
              <a:alpha val="55000"/>
            </a:srgbClr>
          </a:solidFill>
          <a:ln w="7620">
            <a:solidFill>
              <a:srgbClr val="D9C7F7">
                <a:alpha val="4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45300" y="1778000"/>
            <a:ext cx="3746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00">
                <a:solidFill>
                  <a:srgbClr val="E6DAFA"/>
                </a:solidFill>
                <a:latin typeface="DM Sans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5300" y="2108200"/>
            <a:ext cx="3746500" cy="158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F4F0FC"/>
                </a:solidFill>
                <a:latin typeface="DM Sans"/>
              </a:rPr>
              <a:t>Does the control prevent the effect, and what does it cost legitimate work?</a:t>
            </a:r>
          </a:p>
        </p:txBody>
      </p:sp>
      <p:sp>
        <p:nvSpPr>
          <p:cNvPr id="9" name="Related work strip"/>
          <p:cNvSpPr/>
          <p:nvPr/>
        </p:nvSpPr>
        <p:spPr>
          <a:xfrm>
            <a:off x="1397000" y="4064000"/>
            <a:ext cx="9398000" cy="1079500"/>
          </a:xfrm>
          <a:prstGeom prst="roundRect">
            <a:avLst>
              <a:gd name="adj" fmla="val 10588"/>
            </a:avLst>
          </a:prstGeom>
          <a:solidFill>
            <a:srgbClr val="12072F">
              <a:alpha val="62000"/>
            </a:srgbClr>
          </a:solidFill>
          <a:ln w="6350">
            <a:solidFill>
              <a:srgbClr val="FFFFFF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38300" y="4203700"/>
            <a:ext cx="89154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F4F0FC"/>
                </a:solidFill>
                <a:latin typeface="DM Sans"/>
              </a:rPr>
              <a:t>Related benchmarks and controls already exist </a:t>
            </a:r>
            <a:r>
              <a:rPr sz="1300" b="0" i="0">
                <a:solidFill>
                  <a:srgbClr val="D9CEF2"/>
                </a:solidFill>
                <a:latin typeface="DM Sans"/>
              </a:rPr>
              <a:t>(AgentCanary, IssueTrojanBench, Gensee Crate, Gryph, Runmark). Our proposed distinction: delayed execution through trusted developer tools, observed prevention, and benign-workflow disruption. </a:t>
            </a:r>
            <a:r>
              <a:rPr sz="1300" b="1" i="0">
                <a:solidFill>
                  <a:srgbClr val="E6DAFA"/>
                </a:solidFill>
                <a:latin typeface="DM Sans"/>
              </a:rPr>
              <a:t>Novelty of this combination: not yet independently validated.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16000" y="3048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100" b="1" i="0" spc="-60">
                <a:solidFill>
                  <a:srgbClr val="F4F0FC"/>
                </a:solidFill>
                <a:latin typeface="DM Sans"/>
              </a:rPr>
              <a:t>DeferBench: Test the defence, not just the alert.</a:t>
            </a:r>
          </a:p>
        </p:txBody>
      </p:sp>
      <p:sp>
        <p:nvSpPr>
          <p:cNvPr id="3" name="Baseline check"/>
          <p:cNvSpPr/>
          <p:nvPr/>
        </p:nvSpPr>
        <p:spPr>
          <a:xfrm>
            <a:off x="1397000" y="1066800"/>
            <a:ext cx="9398000" cy="749300"/>
          </a:xfrm>
          <a:prstGeom prst="roundRect">
            <a:avLst>
              <a:gd name="adj" fmla="val 15254"/>
            </a:avLst>
          </a:prstGeom>
          <a:solidFill>
            <a:srgbClr val="12072F">
              <a:alpha val="62000"/>
            </a:srgbClr>
          </a:solidFill>
          <a:ln w="6350">
            <a:solidFill>
              <a:srgbClr val="FFFFFF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25600" y="1181100"/>
            <a:ext cx="89535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1" i="0">
                <a:solidFill>
                  <a:srgbClr val="F4F0FC"/>
                </a:solidFill>
                <a:latin typeface="DM Sans"/>
              </a:rPr>
              <a:t>Baseline check first. </a:t>
            </a:r>
            <a:r>
              <a:rPr sz="1400" b="0" i="0">
                <a:solidFill>
                  <a:srgbClr val="D9CEF2"/>
                </a:solidFill>
                <a:latin typeface="DM Sans"/>
              </a:rPr>
              <a:t>Every scenario runs undefended; if its expected effect does not reproduce, it is marked invalid and never counted as a defence success.</a:t>
            </a:r>
          </a:p>
        </p:txBody>
      </p:sp>
      <p:sp>
        <p:nvSpPr>
          <p:cNvPr id="5" name="Node heading"/>
          <p:cNvSpPr txBox="1"/>
          <p:nvPr/>
        </p:nvSpPr>
        <p:spPr>
          <a:xfrm>
            <a:off x="615950" y="2044700"/>
            <a:ext cx="279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 i="0">
                <a:solidFill>
                  <a:srgbClr val="F4F0FC"/>
                </a:solidFill>
                <a:latin typeface="DM Sans"/>
              </a:rPr>
              <a:t>Scenario generator</a:t>
            </a:r>
          </a:p>
        </p:txBody>
      </p:sp>
      <p:sp>
        <p:nvSpPr>
          <p:cNvPr id="6" name="Node text"/>
          <p:cNvSpPr txBox="1"/>
          <p:nvPr/>
        </p:nvSpPr>
        <p:spPr>
          <a:xfrm>
            <a:off x="806450" y="2387600"/>
            <a:ext cx="2413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Fixed attack, benign and edge scenarios</a:t>
            </a:r>
          </a:p>
        </p:txBody>
      </p:sp>
      <p:sp>
        <p:nvSpPr>
          <p:cNvPr id="7" name="Node heading"/>
          <p:cNvSpPr txBox="1"/>
          <p:nvPr/>
        </p:nvSpPr>
        <p:spPr>
          <a:xfrm>
            <a:off x="2216150" y="4216400"/>
            <a:ext cx="279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 i="0">
                <a:solidFill>
                  <a:srgbClr val="F4F0FC"/>
                </a:solidFill>
                <a:latin typeface="DM Sans"/>
              </a:rPr>
              <a:t>Disposable workspace</a:t>
            </a:r>
          </a:p>
        </p:txBody>
      </p:sp>
      <p:sp>
        <p:nvSpPr>
          <p:cNvPr id="8" name="Node text"/>
          <p:cNvSpPr txBox="1"/>
          <p:nvPr/>
        </p:nvSpPr>
        <p:spPr>
          <a:xfrm>
            <a:off x="2406650" y="4559300"/>
            <a:ext cx="2413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Fresh git repo with a synthetic canary secret</a:t>
            </a:r>
          </a:p>
        </p:txBody>
      </p:sp>
      <p:sp>
        <p:nvSpPr>
          <p:cNvPr id="9" name="Node heading"/>
          <p:cNvSpPr txBox="1"/>
          <p:nvPr/>
        </p:nvSpPr>
        <p:spPr>
          <a:xfrm>
            <a:off x="4781550" y="2044700"/>
            <a:ext cx="279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 i="0">
                <a:solidFill>
                  <a:srgbClr val="F4F0FC"/>
                </a:solidFill>
                <a:latin typeface="DM Sans"/>
              </a:rPr>
              <a:t>Security controls</a:t>
            </a:r>
          </a:p>
        </p:txBody>
      </p:sp>
      <p:sp>
        <p:nvSpPr>
          <p:cNvPr id="10" name="Node text"/>
          <p:cNvSpPr txBox="1"/>
          <p:nvPr/>
        </p:nvSpPr>
        <p:spPr>
          <a:xfrm>
            <a:off x="4972050" y="2387600"/>
            <a:ext cx="2413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Includes Handoff, our reference defence</a:t>
            </a:r>
          </a:p>
        </p:txBody>
      </p:sp>
      <p:sp>
        <p:nvSpPr>
          <p:cNvPr id="11" name="Node heading"/>
          <p:cNvSpPr txBox="1"/>
          <p:nvPr/>
        </p:nvSpPr>
        <p:spPr>
          <a:xfrm>
            <a:off x="6311900" y="4216400"/>
            <a:ext cx="279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 i="0">
                <a:solidFill>
                  <a:srgbClr val="F4F0FC"/>
                </a:solidFill>
                <a:latin typeface="DM Sans"/>
              </a:rPr>
              <a:t>Canary verification</a:t>
            </a:r>
          </a:p>
        </p:txBody>
      </p:sp>
      <p:sp>
        <p:nvSpPr>
          <p:cNvPr id="12" name="Node text"/>
          <p:cNvSpPr txBox="1"/>
          <p:nvPr/>
        </p:nvSpPr>
        <p:spPr>
          <a:xfrm>
            <a:off x="6502400" y="4559300"/>
            <a:ext cx="2413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The trusted command really runs; a loopback sink watches</a:t>
            </a:r>
          </a:p>
        </p:txBody>
      </p:sp>
      <p:sp>
        <p:nvSpPr>
          <p:cNvPr id="13" name="Node heading"/>
          <p:cNvSpPr txBox="1"/>
          <p:nvPr/>
        </p:nvSpPr>
        <p:spPr>
          <a:xfrm>
            <a:off x="8813800" y="2044700"/>
            <a:ext cx="2794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50" b="1" i="0">
                <a:solidFill>
                  <a:srgbClr val="F4F0FC"/>
                </a:solidFill>
                <a:latin typeface="DM Sans"/>
              </a:rPr>
              <a:t>Comparative report</a:t>
            </a:r>
          </a:p>
        </p:txBody>
      </p:sp>
      <p:sp>
        <p:nvSpPr>
          <p:cNvPr id="14" name="Node text"/>
          <p:cNvSpPr txBox="1"/>
          <p:nvPr/>
        </p:nvSpPr>
        <p:spPr>
          <a:xfrm>
            <a:off x="9004300" y="2387600"/>
            <a:ext cx="2413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Prevention, leaks, benign disruption,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98500" y="2286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100" b="1" i="0" spc="-60">
                <a:solidFill>
                  <a:srgbClr val="F4F0FC"/>
                </a:solidFill>
                <a:latin typeface="DM Sans"/>
              </a:rPr>
              <a:t>Measure prevention, usability, and traceability.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936750"/>
            <a:ext cx="1905000" cy="762000"/>
          </a:xfrm>
          <a:prstGeom prst="roundRect">
            <a:avLst>
              <a:gd name="adj" fmla="val 11666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900" y="1936750"/>
            <a:ext cx="17272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4F0FC"/>
                </a:solidFill>
                <a:latin typeface="DM Sans"/>
              </a:rPr>
              <a:t>Scenario runner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scripted agent actions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692400" y="2317750"/>
            <a:ext cx="457200" cy="0"/>
          </a:xfrm>
          <a:prstGeom prst="line">
            <a:avLst/>
          </a:prstGeom>
          <a:ln w="19050">
            <a:solidFill>
              <a:srgbClr val="F4F0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ontrols group"/>
          <p:cNvSpPr/>
          <p:nvPr/>
        </p:nvSpPr>
        <p:spPr>
          <a:xfrm>
            <a:off x="3175000" y="1143000"/>
            <a:ext cx="5207000" cy="2362200"/>
          </a:xfrm>
          <a:prstGeom prst="roundRect">
            <a:avLst>
              <a:gd name="adj" fmla="val 4838"/>
            </a:avLst>
          </a:prstGeom>
          <a:solidFill>
            <a:srgbClr val="FFFFFF">
              <a:alpha val="4000"/>
            </a:srgbClr>
          </a:solidFill>
          <a:ln w="7620">
            <a:solidFill>
              <a:srgbClr val="D9C7F7">
                <a:alpha val="4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27400" y="121920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50">
                <a:solidFill>
                  <a:srgbClr val="A46EDB"/>
                </a:solidFill>
                <a:latin typeface="DM Sans"/>
              </a:rPr>
              <a:t>SECURITY CONTROLS UNDER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2800" y="1511300"/>
            <a:ext cx="2413000" cy="698500"/>
          </a:xfrm>
          <a:prstGeom prst="roundRect">
            <a:avLst>
              <a:gd name="adj" fmla="val 12727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1700" y="1511300"/>
            <a:ext cx="22352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4F0FC"/>
                </a:solidFill>
                <a:latin typeface="DM Sans"/>
              </a:rPr>
              <a:t>Path denylist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protected files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1200" y="1511300"/>
            <a:ext cx="2413000" cy="698500"/>
          </a:xfrm>
          <a:prstGeom prst="roundRect">
            <a:avLst>
              <a:gd name="adj" fmla="val 12727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80100" y="1511300"/>
            <a:ext cx="22352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4F0FC"/>
                </a:solidFill>
                <a:latin typeface="DM Sans"/>
              </a:rPr>
              <a:t>Stateless resolver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execution-path resolver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800" y="2324100"/>
            <a:ext cx="2413000" cy="698500"/>
          </a:xfrm>
          <a:prstGeom prst="roundRect">
            <a:avLst>
              <a:gd name="adj" fmla="val 12727"/>
            </a:avLst>
          </a:prstGeom>
          <a:solidFill>
            <a:srgbClr val="FFFFFF">
              <a:alpha val="14000"/>
            </a:srgbClr>
          </a:solidFill>
          <a:ln w="7620">
            <a:solidFill>
              <a:srgbClr val="D9C7F7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1700" y="2324100"/>
            <a:ext cx="22352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4F0FC"/>
                </a:solidFill>
                <a:latin typeface="DM Sans"/>
              </a:rPr>
              <a:t>Handoff (reference)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resolver + provenance ledger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91200" y="2324100"/>
            <a:ext cx="2413000" cy="698500"/>
          </a:xfrm>
          <a:prstGeom prst="roundRect">
            <a:avLst>
              <a:gd name="adj" fmla="val 12727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80100" y="2324100"/>
            <a:ext cx="22352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4F0FC"/>
                </a:solidFill>
                <a:latin typeface="DM Sans"/>
              </a:rPr>
              <a:t>Third-party, hook-only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Gensee · Gryph · Runmark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27400" y="3124200"/>
            <a:ext cx="4889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Stateless resolver and Handoff share one resolver; Handoff adds provenance.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07400" y="1841500"/>
            <a:ext cx="457200" cy="0"/>
          </a:xfrm>
          <a:prstGeom prst="line">
            <a:avLst/>
          </a:prstGeom>
          <a:ln w="19050">
            <a:solidFill>
              <a:srgbClr val="F4F0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890000" y="1492250"/>
            <a:ext cx="2032000" cy="762000"/>
          </a:xfrm>
          <a:prstGeom prst="roundRect">
            <a:avLst>
              <a:gd name="adj" fmla="val 11666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8900" y="1492250"/>
            <a:ext cx="18542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4F0FC"/>
                </a:solidFill>
                <a:latin typeface="DM Sans"/>
              </a:rPr>
              <a:t>Canary verification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real run, 127.0.0.1 sink only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06000" y="2279650"/>
            <a:ext cx="0" cy="330200"/>
          </a:xfrm>
          <a:prstGeom prst="line">
            <a:avLst/>
          </a:prstGeom>
          <a:ln w="19050">
            <a:solidFill>
              <a:srgbClr val="F4F0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890000" y="2635250"/>
            <a:ext cx="2032000" cy="762000"/>
          </a:xfrm>
          <a:prstGeom prst="roundRect">
            <a:avLst>
              <a:gd name="adj" fmla="val 11666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8900" y="2635250"/>
            <a:ext cx="18542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50" b="1" i="0">
                <a:solidFill>
                  <a:srgbClr val="F4F0FC"/>
                </a:solidFill>
                <a:latin typeface="DM Sans"/>
              </a:rPr>
              <a:t>Results engine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 i="0">
                <a:solidFill>
                  <a:srgbClr val="D9CEF2"/>
                </a:solidFill>
                <a:latin typeface="DM Sans"/>
              </a:rPr>
              <a:t>JSON, CSV, HTML dashboard</a:t>
            </a:r>
          </a:p>
        </p:txBody>
      </p:sp>
      <p:sp>
        <p:nvSpPr>
          <p:cNvPr id="23" name="Card 1"/>
          <p:cNvSpPr/>
          <p:nvPr/>
        </p:nvSpPr>
        <p:spPr>
          <a:xfrm>
            <a:off x="762000" y="3810000"/>
            <a:ext cx="3429000" cy="1587500"/>
          </a:xfrm>
          <a:prstGeom prst="roundRect">
            <a:avLst>
              <a:gd name="adj" fmla="val 7199"/>
            </a:avLst>
          </a:prstGeom>
          <a:solidFill>
            <a:srgbClr val="12072F">
              <a:alpha val="62000"/>
            </a:srgbClr>
          </a:solidFill>
          <a:ln w="6350">
            <a:solidFill>
              <a:srgbClr val="FFFFFF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2500" y="39497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4F0FC"/>
                </a:solidFill>
                <a:latin typeface="DM Sans"/>
              </a:rPr>
              <a:t>Implemented today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2500" y="4267200"/>
            <a:ext cx="30607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Python package and CLI · scripted scenario replays · synthetic canary verification · JSON and CSV reports · HTML dashboard · automated tests and documented commands</a:t>
            </a:r>
          </a:p>
        </p:txBody>
      </p:sp>
      <p:sp>
        <p:nvSpPr>
          <p:cNvPr id="26" name="Card 2"/>
          <p:cNvSpPr/>
          <p:nvPr/>
        </p:nvSpPr>
        <p:spPr>
          <a:xfrm>
            <a:off x="4381500" y="3810000"/>
            <a:ext cx="3429000" cy="1587500"/>
          </a:xfrm>
          <a:prstGeom prst="roundRect">
            <a:avLst>
              <a:gd name="adj" fmla="val 7199"/>
            </a:avLst>
          </a:prstGeom>
          <a:solidFill>
            <a:srgbClr val="12072F">
              <a:alpha val="62000"/>
            </a:srgbClr>
          </a:solidFill>
          <a:ln w="6350">
            <a:solidFill>
              <a:srgbClr val="FFFFFF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39497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4F0FC"/>
                </a:solidFill>
                <a:latin typeface="DM Sans"/>
              </a:rPr>
              <a:t>Where the AI comes 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67200"/>
            <a:ext cx="30607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The benchmark evaluates risks created by AI-assisted coding. Agent actions are scripted so results are reproducible. Handoff is rules-based.</a:t>
            </a:r>
          </a:p>
        </p:txBody>
      </p:sp>
      <p:sp>
        <p:nvSpPr>
          <p:cNvPr id="29" name="Card 3"/>
          <p:cNvSpPr/>
          <p:nvPr/>
        </p:nvSpPr>
        <p:spPr>
          <a:xfrm>
            <a:off x="8001000" y="3810000"/>
            <a:ext cx="3429000" cy="1587500"/>
          </a:xfrm>
          <a:prstGeom prst="roundRect">
            <a:avLst>
              <a:gd name="adj" fmla="val 7199"/>
            </a:avLst>
          </a:prstGeom>
          <a:solidFill>
            <a:srgbClr val="12072F">
              <a:alpha val="62000"/>
            </a:srgbClr>
          </a:solidFill>
          <a:ln w="6350">
            <a:solidFill>
              <a:srgbClr val="FFFFFF">
                <a:alpha val="18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1500" y="3949700"/>
            <a:ext cx="304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F4F0FC"/>
                </a:solidFill>
                <a:latin typeface="DM Sans"/>
              </a:rPr>
              <a:t>Not implemented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0" y="4267200"/>
            <a:ext cx="30607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Optional LLM classifier (proposed only) · live-agent runs · human-independent evaluation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98500" y="228600"/>
            <a:ext cx="1079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100" b="1" i="0" spc="-60">
                <a:solidFill>
                  <a:srgbClr val="F4F0FC"/>
                </a:solidFill>
                <a:latin typeface="DM Sans"/>
              </a:rPr>
              <a:t>Handoff improves traceability, not proven prevention.</a:t>
            </a:r>
          </a:p>
        </p:txBody>
      </p:sp>
      <p:sp>
        <p:nvSpPr>
          <p:cNvPr id="3" name="Results panel"/>
          <p:cNvSpPr/>
          <p:nvPr/>
        </p:nvSpPr>
        <p:spPr>
          <a:xfrm>
            <a:off x="1397000" y="1066800"/>
            <a:ext cx="9398000" cy="4229100"/>
          </a:xfrm>
          <a:prstGeom prst="roundRect">
            <a:avLst>
              <a:gd name="adj" fmla="val 3303"/>
            </a:avLst>
          </a:prstGeom>
          <a:gradFill rotWithShape="1">
            <a:gsLst>
              <a:gs pos="0">
                <a:srgbClr val="9A74F5"/>
              </a:gs>
              <a:gs pos="100000">
                <a:srgbClr val="D2C2FC"/>
              </a:gs>
            </a:gsLst>
            <a:lin scaled="0" ang="0"/>
          </a:gradFill>
          <a:ln w="2349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3700" y="1206500"/>
            <a:ext cx="482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0E3E"/>
                </a:solidFill>
                <a:latin typeface="DM Sans"/>
              </a:rPr>
              <a:t>Attack runs prevented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3700" y="14478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3347A"/>
                </a:solidFill>
                <a:latin typeface="DM Sans"/>
              </a:rPr>
              <a:t>canary never reached the sink · higher is better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3700" y="1689100"/>
            <a:ext cx="1841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0E3E"/>
                </a:solidFill>
                <a:latin typeface="DM Sans"/>
              </a:rPr>
              <a:t>Stateless resolver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6000" y="1701800"/>
            <a:ext cx="254000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56000" y="1701800"/>
            <a:ext cx="2540000" cy="190500"/>
          </a:xfrm>
          <a:prstGeom prst="roundRect">
            <a:avLst>
              <a:gd name="adj" fmla="val 20000"/>
            </a:avLst>
          </a:prstGeom>
          <a:solidFill>
            <a:srgbClr val="7B5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7600" y="16891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0E3E"/>
                </a:solidFill>
                <a:latin typeface="DM Sans"/>
              </a:rPr>
              <a:t>44/44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3700" y="1968500"/>
            <a:ext cx="1841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0E3E"/>
                </a:solidFill>
                <a:latin typeface="DM Sans"/>
              </a:rPr>
              <a:t>Handoff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56000" y="1981200"/>
            <a:ext cx="254000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56000" y="1981200"/>
            <a:ext cx="2540000" cy="190500"/>
          </a:xfrm>
          <a:prstGeom prst="roundRect">
            <a:avLst>
              <a:gd name="adj" fmla="val 20000"/>
            </a:avLst>
          </a:prstGeom>
          <a:solidFill>
            <a:srgbClr val="2A1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7600" y="19685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0E3E"/>
                </a:solidFill>
                <a:latin typeface="DM Sans"/>
              </a:rPr>
              <a:t>44/44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3700" y="2298700"/>
            <a:ext cx="482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0E3E"/>
                </a:solidFill>
                <a:latin typeface="DM Sans"/>
              </a:rPr>
              <a:t>Benign workflows interrupted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3700" y="25400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3347A"/>
                </a:solidFill>
                <a:latin typeface="DM Sans"/>
              </a:rPr>
              <a:t>lower is better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3700" y="2781300"/>
            <a:ext cx="1841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0E3E"/>
                </a:solidFill>
                <a:latin typeface="DM Sans"/>
              </a:rPr>
              <a:t>Stateless resolver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6000" y="2794000"/>
            <a:ext cx="254000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56000" y="2794000"/>
            <a:ext cx="195385" cy="190500"/>
          </a:xfrm>
          <a:prstGeom prst="roundRect">
            <a:avLst>
              <a:gd name="adj" fmla="val 20000"/>
            </a:avLst>
          </a:prstGeom>
          <a:solidFill>
            <a:srgbClr val="7B55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7600" y="2781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0E3E"/>
                </a:solidFill>
                <a:latin typeface="DM Sans"/>
              </a:rPr>
              <a:t>2/26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3700" y="3060700"/>
            <a:ext cx="1841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0E3E"/>
                </a:solidFill>
                <a:latin typeface="DM Sans"/>
              </a:rPr>
              <a:t>Handoff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56000" y="3073400"/>
            <a:ext cx="254000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556000" y="3073400"/>
            <a:ext cx="195385" cy="190500"/>
          </a:xfrm>
          <a:prstGeom prst="roundRect">
            <a:avLst>
              <a:gd name="adj" fmla="val 20000"/>
            </a:avLst>
          </a:prstGeom>
          <a:solidFill>
            <a:srgbClr val="2A1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7600" y="30607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0E3E"/>
                </a:solidFill>
                <a:latin typeface="DM Sans"/>
              </a:rPr>
              <a:t>2/26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3700" y="3390900"/>
            <a:ext cx="482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B0E3E"/>
                </a:solidFill>
                <a:latin typeface="DM Sans"/>
              </a:rPr>
              <a:t>Provenance attribution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3700" y="36322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43347A"/>
                </a:solidFill>
                <a:latin typeface="DM Sans"/>
              </a:rPr>
              <a:t>which agent step wrote the content, after which untrusted 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3700" y="3873500"/>
            <a:ext cx="1841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0E3E"/>
                </a:solidFill>
                <a:latin typeface="DM Sans"/>
              </a:rPr>
              <a:t>Stateless resolver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56000" y="3886200"/>
            <a:ext cx="2540000" cy="190500"/>
          </a:xfrm>
          <a:prstGeom prst="roundRect">
            <a:avLst>
              <a:gd name="adj" fmla="val 20000"/>
            </a:avLst>
          </a:prstGeom>
          <a:noFill/>
          <a:ln w="7620">
            <a:solidFill>
              <a:srgbClr val="43347A">
                <a:alpha val="70000"/>
              </a:srgbClr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2200" y="3886200"/>
            <a:ext cx="23876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43347A"/>
                </a:solidFill>
                <a:latin typeface="DM Sans"/>
              </a:rPr>
              <a:t>not provided by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3700" y="4152900"/>
            <a:ext cx="1841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B0E3E"/>
                </a:solidFill>
                <a:latin typeface="DM Sans"/>
              </a:rPr>
              <a:t>Handoff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56000" y="4165600"/>
            <a:ext cx="2540000" cy="190500"/>
          </a:xfrm>
          <a:prstGeom prst="roundRect">
            <a:avLst>
              <a:gd name="adj" fmla="val 20000"/>
            </a:avLst>
          </a:prstGeom>
          <a:solidFill>
            <a:srgbClr val="FFFFFF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556000" y="4165600"/>
            <a:ext cx="2135909" cy="190500"/>
          </a:xfrm>
          <a:prstGeom prst="roundRect">
            <a:avLst>
              <a:gd name="adj" fmla="val 20000"/>
            </a:avLst>
          </a:prstGeom>
          <a:solidFill>
            <a:srgbClr val="2A106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7600" y="41529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B0E3E"/>
                </a:solidFill>
                <a:latin typeface="DM Sans"/>
              </a:rPr>
              <a:t>37/44</a:t>
            </a:r>
          </a:p>
        </p:txBody>
      </p:sp>
      <p:sp>
        <p:nvSpPr>
          <p:cNvPr id="33" name="Verdict card"/>
          <p:cNvSpPr/>
          <p:nvPr/>
        </p:nvSpPr>
        <p:spPr>
          <a:xfrm>
            <a:off x="7175500" y="1244600"/>
            <a:ext cx="3365500" cy="3149600"/>
          </a:xfrm>
          <a:prstGeom prst="roundRect">
            <a:avLst>
              <a:gd name="adj" fmla="val 3629"/>
            </a:avLst>
          </a:prstGeom>
          <a:solidFill>
            <a:srgbClr val="2A1560">
              <a:alpha val="92000"/>
            </a:srgbClr>
          </a:solidFill>
          <a:ln w="6350">
            <a:solidFill>
              <a:srgbClr val="FFFFFF">
                <a:alpha val="25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4100" y="1473200"/>
            <a:ext cx="292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4F0FC"/>
                </a:solidFill>
                <a:latin typeface="DM Sans"/>
              </a:rPr>
              <a:t>Tie on prevention.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4100" y="1905000"/>
            <a:ext cx="29337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 i="0">
                <a:solidFill>
                  <a:srgbClr val="D9CEF2"/>
                </a:solidFill>
                <a:latin typeface="DM Sans"/>
              </a:rPr>
              <a:t>Handoff adds attribution evidence, but its added value over the stateless resolver has not been established.</a:t>
            </a:r>
          </a:p>
        </p:txBody>
      </p:sp>
      <p:sp>
        <p:nvSpPr>
          <p:cNvPr id="36" name="Independence chip"/>
          <p:cNvSpPr/>
          <p:nvPr/>
        </p:nvSpPr>
        <p:spPr>
          <a:xfrm>
            <a:off x="7404100" y="3619500"/>
            <a:ext cx="2908300" cy="596900"/>
          </a:xfrm>
          <a:prstGeom prst="roundRect">
            <a:avLst>
              <a:gd name="adj" fmla="val 12765"/>
            </a:avLst>
          </a:prstGeom>
          <a:solidFill>
            <a:srgbClr val="FFFFFF">
              <a:alpha val="8000"/>
            </a:srgbClr>
          </a:solidFill>
          <a:ln w="7620">
            <a:solidFill>
              <a:srgbClr val="E6DAFA">
                <a:alpha val="6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18400" y="3619500"/>
            <a:ext cx="2692400" cy="596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 i="0">
                <a:solidFill>
                  <a:srgbClr val="F4F0FC"/>
                </a:solidFill>
                <a:latin typeface="DM Sans"/>
              </a:rPr>
              <a:t>Development-authored scenarios.</a:t>
            </a:r>
            <a:r>
              <a:rPr sz="1100" b="0" i="0">
                <a:solidFill>
                  <a:srgbClr val="D9CEF2"/>
                </a:solidFill>
                <a:latin typeface="DM Sans"/>
              </a:rPr>
              <a:t> Human-independent evaluation pending.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63700" y="4584700"/>
            <a:ext cx="889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2C1A5E"/>
                </a:solidFill>
                <a:latin typeface="DM Sans"/>
              </a:rPr>
              <a:t>Run 20261013T115905Z-bde81a: 40 scenarios × 2 payload styles, 0 invalid runs. Counted as prevented when a control asks or denies and a reviewer rejects asks; if every ask is approved: Handoff 38/44, stateless resolver 40/44. Other controls (default policy, hook-only; configurations, not product comparisons): Gensee 7/44, Gryph 0/44, Runmark 0/44.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97000" y="609600"/>
            <a:ext cx="952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 i="0" spc="-60">
                <a:solidFill>
                  <a:srgbClr val="F4F0FC"/>
                </a:solidFill>
                <a:latin typeface="DM Sans"/>
              </a:rPr>
              <a:t>Related work and limits</a:t>
            </a:r>
          </a:p>
        </p:txBody>
      </p:sp>
      <p:sp>
        <p:nvSpPr>
          <p:cNvPr id="3" name="Card 1"/>
          <p:cNvSpPr/>
          <p:nvPr/>
        </p:nvSpPr>
        <p:spPr>
          <a:xfrm>
            <a:off x="1397000" y="1701800"/>
            <a:ext cx="4572000" cy="1511300"/>
          </a:xfrm>
          <a:prstGeom prst="roundRect">
            <a:avLst>
              <a:gd name="adj" fmla="val 6722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2900" y="1917700"/>
            <a:ext cx="254000" cy="254000"/>
          </a:xfrm>
          <a:prstGeom prst="roundRect">
            <a:avLst>
              <a:gd name="adj" fmla="val 22500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12900" y="1917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9300" y="1892300"/>
            <a:ext cx="3746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Related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9300" y="2222500"/>
            <a:ext cx="3746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AgentCanary: agents in real executable environments, compares three runtime defences. IssueTrojanBench: agents following malicious issues. SandboxEscapeBench: container escape.</a:t>
            </a:r>
          </a:p>
        </p:txBody>
      </p:sp>
      <p:sp>
        <p:nvSpPr>
          <p:cNvPr id="8" name="Card 2"/>
          <p:cNvSpPr/>
          <p:nvPr/>
        </p:nvSpPr>
        <p:spPr>
          <a:xfrm>
            <a:off x="6223000" y="1701800"/>
            <a:ext cx="4572000" cy="1511300"/>
          </a:xfrm>
          <a:prstGeom prst="roundRect">
            <a:avLst>
              <a:gd name="adj" fmla="val 6722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38900" y="1917700"/>
            <a:ext cx="254000" cy="254000"/>
          </a:xfrm>
          <a:prstGeom prst="roundRect">
            <a:avLst>
              <a:gd name="adj" fmla="val 22500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8900" y="19177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45300" y="1892300"/>
            <a:ext cx="3746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Related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5300" y="2222500"/>
            <a:ext cx="3746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Gensee Crate documents artifact provenance; Gryph provides policy rules; Runmark reports pre-execution command facts. We ran released tools hook-only with default policies.</a:t>
            </a:r>
          </a:p>
        </p:txBody>
      </p:sp>
      <p:sp>
        <p:nvSpPr>
          <p:cNvPr id="13" name="Card 3"/>
          <p:cNvSpPr/>
          <p:nvPr/>
        </p:nvSpPr>
        <p:spPr>
          <a:xfrm>
            <a:off x="1397000" y="3365500"/>
            <a:ext cx="4572000" cy="1511300"/>
          </a:xfrm>
          <a:prstGeom prst="roundRect">
            <a:avLst>
              <a:gd name="adj" fmla="val 6722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12900" y="3581400"/>
            <a:ext cx="254000" cy="254000"/>
          </a:xfrm>
          <a:prstGeom prst="roundRect">
            <a:avLst>
              <a:gd name="adj" fmla="val 22500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581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9300" y="3556000"/>
            <a:ext cx="3746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Our qualified claim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3886200"/>
            <a:ext cx="3746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A focused, execution-verified comparison of controls for delayed execution through trusted developer tools. Novelty of the combination is not independently validated.</a:t>
            </a:r>
          </a:p>
        </p:txBody>
      </p:sp>
      <p:sp>
        <p:nvSpPr>
          <p:cNvPr id="18" name="Card 4"/>
          <p:cNvSpPr/>
          <p:nvPr/>
        </p:nvSpPr>
        <p:spPr>
          <a:xfrm>
            <a:off x="6223000" y="3365500"/>
            <a:ext cx="4572000" cy="1511300"/>
          </a:xfrm>
          <a:prstGeom prst="roundRect">
            <a:avLst>
              <a:gd name="adj" fmla="val 6722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FFFFFF">
                <a:alpha val="2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38900" y="3581400"/>
            <a:ext cx="254000" cy="254000"/>
          </a:xfrm>
          <a:prstGeom prst="roundRect">
            <a:avLst>
              <a:gd name="adj" fmla="val 22500"/>
            </a:avLst>
          </a:prstGeom>
          <a:noFill/>
          <a:ln w="76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8900" y="35814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4F0FC"/>
                </a:solidFill>
                <a:latin typeface="DM San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5300" y="3556000"/>
            <a:ext cx="37465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50" b="1" i="0">
                <a:solidFill>
                  <a:srgbClr val="F4F0FC"/>
                </a:solidFill>
                <a:latin typeface="DM Sans"/>
              </a:rPr>
              <a:t>Limits and open 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5300" y="3886200"/>
            <a:ext cx="3746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D9CEF2"/>
                </a:solidFill>
                <a:latin typeface="DM Sans"/>
              </a:rPr>
              <a:t>Scripted agent actions, not live agents · one OS (macOS) · scenarios written by the defence author · human-independent evaluation pending.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8000" y="6108700"/>
            <a:ext cx="8636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E6DAFA"/>
                </a:solidFill>
                <a:latin typeface="DM Sans"/>
              </a:rPr>
              <a:t>Sources: AgentCanary arXiv:2606.10484 · IssueTrojanBench arXiv:2607.20759 · SandboxEscapeBench PMLR v306 (ICML 2026) · github.com/GenseeAI/gensee-crate · github.com/safedep/gryph · github.com/phaethix/runmark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397000" y="1041400"/>
            <a:ext cx="7620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850" b="1" i="0" spc="-60">
                <a:solidFill>
                  <a:srgbClr val="F4F0FC"/>
                </a:solidFill>
                <a:latin typeface="DM Sans"/>
              </a:rPr>
              <a:t>The Team</a:t>
            </a:r>
          </a:p>
        </p:txBody>
      </p:sp>
      <p:sp>
        <p:nvSpPr>
          <p:cNvPr id="3" name="Member 1 photo placeholder"/>
          <p:cNvSpPr/>
          <p:nvPr/>
        </p:nvSpPr>
        <p:spPr>
          <a:xfrm rot="21060000">
            <a:off x="3270250" y="2362200"/>
            <a:ext cx="1587500" cy="158750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5A2FB4"/>
              </a:gs>
              <a:gs pos="100000">
                <a:srgbClr val="26125A"/>
              </a:gs>
            </a:gsLst>
            <a:lin scaled="0" ang="16200000"/>
          </a:gra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6DAFA"/>
                </a:solidFill>
                <a:latin typeface="DM Sans"/>
              </a:rPr>
              <a:t>Add photo</a:t>
            </a:r>
          </a:p>
        </p:txBody>
      </p:sp>
      <p:sp>
        <p:nvSpPr>
          <p:cNvPr id="4" name="Member 1 name"/>
          <p:cNvSpPr txBox="1"/>
          <p:nvPr/>
        </p:nvSpPr>
        <p:spPr>
          <a:xfrm>
            <a:off x="2603500" y="42418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i="0">
                <a:solidFill>
                  <a:srgbClr val="F4F0FC"/>
                </a:solidFill>
                <a:latin typeface="DM Sans"/>
              </a:rPr>
              <a:t>[Team Member 1 Name]</a:t>
            </a:r>
          </a:p>
        </p:txBody>
      </p:sp>
      <p:sp>
        <p:nvSpPr>
          <p:cNvPr id="5" name="Member 1 role"/>
          <p:cNvSpPr txBox="1"/>
          <p:nvPr/>
        </p:nvSpPr>
        <p:spPr>
          <a:xfrm>
            <a:off x="2603500" y="4533900"/>
            <a:ext cx="2921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D9CEF2"/>
                </a:solidFill>
                <a:latin typeface="DM Sans"/>
              </a:rPr>
              <a:t>Suggested role: defence and resolver (Handoff)</a:t>
            </a:r>
          </a:p>
        </p:txBody>
      </p:sp>
      <p:sp>
        <p:nvSpPr>
          <p:cNvPr id="6" name="Member 2 photo placeholder"/>
          <p:cNvSpPr/>
          <p:nvPr/>
        </p:nvSpPr>
        <p:spPr>
          <a:xfrm rot="396000">
            <a:off x="7334250" y="2362200"/>
            <a:ext cx="1587500" cy="1587500"/>
          </a:xfrm>
          <a:prstGeom prst="roundRect">
            <a:avLst>
              <a:gd name="adj" fmla="val 9600"/>
            </a:avLst>
          </a:prstGeom>
          <a:gradFill rotWithShape="1">
            <a:gsLst>
              <a:gs pos="0">
                <a:srgbClr val="5A2FB4"/>
              </a:gs>
              <a:gs pos="100000">
                <a:srgbClr val="26125A"/>
              </a:gs>
            </a:gsLst>
            <a:lin scaled="0" ang="16200000"/>
          </a:gradFill>
          <a:ln w="31750">
            <a:solidFill>
              <a:srgbClr val="FFFFFF"/>
            </a:solidFill>
          </a:ln>
        </p:spPr>
        <p:txBody>
          <a:bodyPr rtlCol="0" anchor="ctr" wrap="square" lIns="0" rIns="0" tIns="0" bIns="0"/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E6DAFA"/>
                </a:solidFill>
                <a:latin typeface="DM Sans"/>
              </a:rPr>
              <a:t>Add photo</a:t>
            </a:r>
          </a:p>
        </p:txBody>
      </p:sp>
      <p:sp>
        <p:nvSpPr>
          <p:cNvPr id="7" name="Member 2 name"/>
          <p:cNvSpPr txBox="1"/>
          <p:nvPr/>
        </p:nvSpPr>
        <p:spPr>
          <a:xfrm>
            <a:off x="6667500" y="4241800"/>
            <a:ext cx="2921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i="0">
                <a:solidFill>
                  <a:srgbClr val="F4F0FC"/>
                </a:solidFill>
                <a:latin typeface="DM Sans"/>
              </a:rPr>
              <a:t>[Team Member 2 Name]</a:t>
            </a:r>
          </a:p>
        </p:txBody>
      </p:sp>
      <p:sp>
        <p:nvSpPr>
          <p:cNvPr id="8" name="Member 2 role"/>
          <p:cNvSpPr txBox="1"/>
          <p:nvPr/>
        </p:nvSpPr>
        <p:spPr>
          <a:xfrm>
            <a:off x="6667500" y="4533900"/>
            <a:ext cx="2921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D9CEF2"/>
                </a:solidFill>
                <a:latin typeface="DM Sans"/>
              </a:rPr>
              <a:t>Suggested role: benchmark, scenarios and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1016000" y="1714500"/>
            <a:ext cx="10160000" cy="165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350" b="0" i="1" spc="-650">
                <a:solidFill>
                  <a:srgbClr val="7C4FD0"/>
                </a:solidFill>
                <a:latin typeface="DM Serif Display"/>
              </a:rPr>
              <a:t>Defer</a:t>
            </a:r>
            <a:r>
              <a:rPr sz="9350" b="1" i="0" spc="-650">
                <a:solidFill>
                  <a:srgbClr val="F4F0FC"/>
                </a:solidFill>
                <a:latin typeface="DM Sans"/>
              </a:rPr>
              <a:t>Bench</a:t>
            </a:r>
          </a:p>
        </p:txBody>
      </p:sp>
      <p:sp>
        <p:nvSpPr>
          <p:cNvPr id="3" name="Tagline"/>
          <p:cNvSpPr txBox="1"/>
          <p:nvPr/>
        </p:nvSpPr>
        <p:spPr>
          <a:xfrm>
            <a:off x="1016000" y="3530600"/>
            <a:ext cx="1016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0" i="1" spc="-60">
                <a:solidFill>
                  <a:srgbClr val="E9E1F7"/>
                </a:solidFill>
                <a:latin typeface="DM Serif Display"/>
              </a:rPr>
              <a:t>Making delayed-execution security measurable.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DeferBench: Benchmarking Delayed-Execution Risks in AI-Assisted Development</dc:title>
  <dc:subject>AI &amp; Cybersecurity hackathon idea submission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